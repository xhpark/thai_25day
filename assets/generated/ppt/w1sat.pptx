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1주차 · 태국 교회 첫 방문</a:t>
            </a:r>
          </a:p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교회 문 앞에서 만난 첫 친구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0" y="137160"/>
            <a:ext cx="31089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algun Gothic"/>
              </a:rPr>
              <a:t>토요일 10분 수업</a:t>
            </a:r>
          </a:p>
        </p:txBody>
      </p:sp>
      <p:pic>
        <p:nvPicPr>
          <p:cNvPr id="4" name="Picture 3" descr="greeting_church_g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4023360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0" y="169164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73F31"/>
                </a:solidFill>
                <a:latin typeface="Malgun Gothic"/>
              </a:rPr>
              <a:t>오늘의 장면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2103120"/>
            <a:ext cx="5669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1C241F"/>
                </a:solidFill>
                <a:latin typeface="Malgun Gothic"/>
              </a:rPr>
              <a:t>한국 선교팀 방문자와 태국 교회 봉사자가 처음 만난다. 서로 인사하고, 간단한 질문에 답하며, 도움을 주고받은 뒤 감사 인사를 나눈다.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3749039"/>
            <a:ext cx="5669280" cy="1463040"/>
          </a:xfrm>
          <a:prstGeom prst="roundRect">
            <a:avLst/>
          </a:prstGeom>
          <a:solidFill>
            <a:srgbClr val="F4FBF4"/>
          </a:solidFill>
          <a:ln w="15875">
            <a:solidFill>
              <a:srgbClr val="D7E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388620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73F31"/>
                </a:solidFill>
                <a:latin typeface="Malgun Gothic"/>
              </a:rPr>
              <a:t>수업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4251960"/>
            <a:ext cx="5212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C241F"/>
                </a:solidFill>
                <a:latin typeface="Malgun Gothic"/>
              </a:rPr>
              <a:t>첫 만남 현장에서 바로 쓸 수 있는 인사 흐름을 몸에 익힌다.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D6964"/>
                </a:solidFill>
                <a:latin typeface="Malgun Gothic"/>
              </a:rPr>
              <a:t>1주차 토요일 오프라인 수업 · 태국어 선교회화 25일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D6964"/>
                </a:solidFill>
                <a:latin typeface="Malgun Gothic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Slide 2 · 핵심 문장</a:t>
            </a:r>
          </a:p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이번 주 핵심 문장 전체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0" y="137160"/>
            <a:ext cx="31089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algun Gothic"/>
              </a:rPr>
              <a:t>10분 수업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3657600" cy="13990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ctr">
              <a:defRPr sz="1500" b="1">
                <a:solidFill>
                  <a:srgbClr val="173F31"/>
                </a:solidFill>
                <a:latin typeface="Malgun Gothic"/>
              </a:defRPr>
            </a:pPr>
            <a:r>
              <a:t>안녕하세요</a:t>
            </a:r>
          </a:p>
          <a:p>
            <a:pPr>
              <a:defRPr sz="2300" b="1">
                <a:solidFill>
                  <a:srgbClr val="050505"/>
                </a:solidFill>
                <a:latin typeface="Malgun Gothic"/>
              </a:defRPr>
            </a:pPr>
            <a:r>
              <a:t>สวัสดีค่ะ</a:t>
            </a:r>
          </a:p>
          <a:p>
            <a:pPr>
              <a:defRPr sz="1300" b="1">
                <a:solidFill>
                  <a:srgbClr val="1769D2"/>
                </a:solidFill>
                <a:latin typeface="Malgun Gothic"/>
              </a:defRPr>
            </a:pPr>
            <a:r>
              <a:t>여: 싸왓디 카</a:t>
            </a:r>
          </a:p>
          <a:p>
            <a:pPr>
              <a:defRPr sz="1300" b="1">
                <a:solidFill>
                  <a:srgbClr val="1769D2"/>
                </a:solidFill>
                <a:latin typeface="Malgun Gothic"/>
              </a:defRPr>
            </a:pPr>
            <a:r>
              <a:t>남: 싸왓디 크랍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5112" y="1600200"/>
            <a:ext cx="3657600" cy="13990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ctr">
              <a:defRPr sz="1500" b="1">
                <a:solidFill>
                  <a:srgbClr val="173F31"/>
                </a:solidFill>
                <a:latin typeface="Malgun Gothic"/>
              </a:defRPr>
            </a:pPr>
            <a:r>
              <a:t>좋은 아침</a:t>
            </a:r>
          </a:p>
          <a:p>
            <a:pPr>
              <a:defRPr sz="2300" b="1">
                <a:solidFill>
                  <a:srgbClr val="050505"/>
                </a:solidFill>
                <a:latin typeface="Malgun Gothic"/>
              </a:defRPr>
            </a:pPr>
            <a:r>
              <a:t>สวัสดีตอนเช้าค่ะ</a:t>
            </a:r>
          </a:p>
          <a:p>
            <a:pPr>
              <a:defRPr sz="1300" b="1">
                <a:solidFill>
                  <a:srgbClr val="1769D2"/>
                </a:solidFill>
                <a:latin typeface="Malgun Gothic"/>
              </a:defRPr>
            </a:pPr>
            <a:r>
              <a:t>여: 싸왓디 떤 차오 카</a:t>
            </a:r>
          </a:p>
          <a:p>
            <a:pPr>
              <a:defRPr sz="1300" b="1">
                <a:solidFill>
                  <a:srgbClr val="1769D2"/>
                </a:solidFill>
                <a:latin typeface="Malgun Gothic"/>
              </a:defRPr>
            </a:pPr>
            <a:r>
              <a:t>남: 싸왓디 떤 차오 크랍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47304" y="1600200"/>
            <a:ext cx="3657600" cy="13990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ctr">
              <a:defRPr sz="1500" b="1">
                <a:solidFill>
                  <a:srgbClr val="173F31"/>
                </a:solidFill>
                <a:latin typeface="Malgun Gothic"/>
              </a:defRPr>
            </a:pPr>
            <a:r>
              <a:t>좋은 저녁</a:t>
            </a:r>
          </a:p>
          <a:p>
            <a:pPr>
              <a:defRPr sz="2300" b="1">
                <a:solidFill>
                  <a:srgbClr val="050505"/>
                </a:solidFill>
                <a:latin typeface="Malgun Gothic"/>
              </a:defRPr>
            </a:pPr>
            <a:r>
              <a:t>สวัสดีตอนเย็นค่ะ</a:t>
            </a:r>
          </a:p>
          <a:p>
            <a:pPr>
              <a:defRPr sz="1300" b="1">
                <a:solidFill>
                  <a:srgbClr val="1769D2"/>
                </a:solidFill>
                <a:latin typeface="Malgun Gothic"/>
              </a:defRPr>
            </a:pPr>
            <a:r>
              <a:t>여: 싸왓디 떤 옌 카</a:t>
            </a:r>
          </a:p>
          <a:p>
            <a:pPr>
              <a:defRPr sz="1300" b="1">
                <a:solidFill>
                  <a:srgbClr val="1769D2"/>
                </a:solidFill>
                <a:latin typeface="Malgun Gothic"/>
              </a:defRPr>
            </a:pPr>
            <a:r>
              <a:t>남: 싸왓디 떤 옌 크랍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63824"/>
            <a:ext cx="3657600" cy="13990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ctr">
              <a:defRPr sz="1500" b="1">
                <a:solidFill>
                  <a:srgbClr val="173F31"/>
                </a:solidFill>
                <a:latin typeface="Malgun Gothic"/>
              </a:defRPr>
            </a:pPr>
            <a:r>
              <a:t>정말 고마워요</a:t>
            </a:r>
          </a:p>
          <a:p>
            <a:pPr>
              <a:defRPr sz="2300" b="1">
                <a:solidFill>
                  <a:srgbClr val="050505"/>
                </a:solidFill>
                <a:latin typeface="Malgun Gothic"/>
              </a:defRPr>
            </a:pPr>
            <a:r>
              <a:t>ขอบคุณมากค่ะ</a:t>
            </a:r>
          </a:p>
          <a:p>
            <a:pPr>
              <a:defRPr sz="1300" b="1">
                <a:solidFill>
                  <a:srgbClr val="1769D2"/>
                </a:solidFill>
                <a:latin typeface="Malgun Gothic"/>
              </a:defRPr>
            </a:pPr>
            <a:r>
              <a:t>여: 콥 쿤 막 카</a:t>
            </a:r>
          </a:p>
          <a:p>
            <a:pPr>
              <a:defRPr sz="1300" b="1">
                <a:solidFill>
                  <a:srgbClr val="1769D2"/>
                </a:solidFill>
                <a:latin typeface="Malgun Gothic"/>
              </a:defRPr>
            </a:pPr>
            <a:r>
              <a:t>남: 콥 쿤 막 크랍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3163824"/>
            <a:ext cx="3657600" cy="13990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ctr">
              <a:defRPr sz="1500" b="1">
                <a:solidFill>
                  <a:srgbClr val="173F31"/>
                </a:solidFill>
                <a:latin typeface="Malgun Gothic"/>
              </a:defRPr>
            </a:pPr>
            <a:r>
              <a:t>천만에요</a:t>
            </a:r>
          </a:p>
          <a:p>
            <a:pPr>
              <a:defRPr sz="2300" b="1">
                <a:solidFill>
                  <a:srgbClr val="050505"/>
                </a:solidFill>
                <a:latin typeface="Malgun Gothic"/>
              </a:defRPr>
            </a:pPr>
            <a:r>
              <a:t>ไม่เป็นไรค่ะ</a:t>
            </a:r>
          </a:p>
          <a:p>
            <a:pPr>
              <a:defRPr sz="1300" b="1">
                <a:solidFill>
                  <a:srgbClr val="1769D2"/>
                </a:solidFill>
                <a:latin typeface="Malgun Gothic"/>
              </a:defRPr>
            </a:pPr>
            <a:r>
              <a:t>여: 마이 뻰 라이 카</a:t>
            </a:r>
          </a:p>
          <a:p>
            <a:pPr>
              <a:defRPr sz="1300" b="1">
                <a:solidFill>
                  <a:srgbClr val="1769D2"/>
                </a:solidFill>
                <a:latin typeface="Malgun Gothic"/>
              </a:defRPr>
            </a:pPr>
            <a:r>
              <a:t>남: 마이 뻰 라이 크랍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47304" y="3163824"/>
            <a:ext cx="3657600" cy="13990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ctr">
              <a:defRPr sz="1500" b="1">
                <a:solidFill>
                  <a:srgbClr val="173F31"/>
                </a:solidFill>
                <a:latin typeface="Malgun Gothic"/>
              </a:defRPr>
            </a:pPr>
            <a:r>
              <a:t>예</a:t>
            </a:r>
          </a:p>
          <a:p>
            <a:pPr>
              <a:defRPr sz="2300" b="1">
                <a:solidFill>
                  <a:srgbClr val="050505"/>
                </a:solidFill>
                <a:latin typeface="Malgun Gothic"/>
              </a:defRPr>
            </a:pPr>
            <a:r>
              <a:t>ใช่ค่ะ</a:t>
            </a:r>
          </a:p>
          <a:p>
            <a:pPr>
              <a:defRPr sz="1300" b="1">
                <a:solidFill>
                  <a:srgbClr val="1769D2"/>
                </a:solidFill>
                <a:latin typeface="Malgun Gothic"/>
              </a:defRPr>
            </a:pPr>
            <a:r>
              <a:t>여: 차이 카</a:t>
            </a:r>
          </a:p>
          <a:p>
            <a:pPr>
              <a:defRPr sz="1300" b="1">
                <a:solidFill>
                  <a:srgbClr val="1769D2"/>
                </a:solidFill>
                <a:latin typeface="Malgun Gothic"/>
              </a:defRPr>
            </a:pPr>
            <a:r>
              <a:t>남: 차이 크랍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727448"/>
            <a:ext cx="3657600" cy="13990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ctr">
              <a:defRPr sz="1500" b="1">
                <a:solidFill>
                  <a:srgbClr val="173F31"/>
                </a:solidFill>
                <a:latin typeface="Malgun Gothic"/>
              </a:defRPr>
            </a:pPr>
            <a:r>
              <a:t>아니오</a:t>
            </a:r>
          </a:p>
          <a:p>
            <a:pPr>
              <a:defRPr sz="2300" b="1">
                <a:solidFill>
                  <a:srgbClr val="050505"/>
                </a:solidFill>
                <a:latin typeface="Malgun Gothic"/>
              </a:defRPr>
            </a:pPr>
            <a:r>
              <a:t>ไม่ใช่ค่ะ</a:t>
            </a:r>
          </a:p>
          <a:p>
            <a:pPr>
              <a:defRPr sz="1300" b="1">
                <a:solidFill>
                  <a:srgbClr val="1769D2"/>
                </a:solidFill>
                <a:latin typeface="Malgun Gothic"/>
              </a:defRPr>
            </a:pPr>
            <a:r>
              <a:t>여: 마이 차이 카</a:t>
            </a:r>
          </a:p>
          <a:p>
            <a:pPr>
              <a:defRPr sz="1300" b="1">
                <a:solidFill>
                  <a:srgbClr val="1769D2"/>
                </a:solidFill>
                <a:latin typeface="Malgun Gothic"/>
              </a:defRPr>
            </a:pPr>
            <a:r>
              <a:t>남: 마이 차이 크랍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D6964"/>
                </a:solidFill>
                <a:latin typeface="Malgun Gothic"/>
              </a:rPr>
              <a:t>여성 발화 먼저 연습 → 남성형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D6964"/>
                </a:solidFill>
                <a:latin typeface="Malgun Gothic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Slide 3 · 핵심 단어 + 이미지</a:t>
            </a:r>
          </a:p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핵심 단어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0" y="137160"/>
            <a:ext cx="31089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algun Gothic"/>
              </a:rPr>
              <a:t>10분 수업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2514600" cy="3108960"/>
          </a:xfrm>
          <a:prstGeom prst="roundRect">
            <a:avLst/>
          </a:prstGeom>
          <a:solidFill>
            <a:srgbClr val="F4FBF4"/>
          </a:solidFill>
          <a:ln w="15875">
            <a:solidFill>
              <a:srgbClr val="D7E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228600"/>
          <a:lstStyle/>
          <a:p>
            <a:pPr algn="ctr">
              <a:defRPr sz="3400" b="1">
                <a:solidFill>
                  <a:srgbClr val="1C241F"/>
                </a:solidFill>
                <a:latin typeface="Malgun Gothic"/>
              </a:defRPr>
            </a:pPr>
            <a:r>
              <a:t>สวัสดี</a:t>
            </a:r>
          </a:p>
          <a:p>
            <a:pPr algn="ctr">
              <a:defRPr sz="2200" b="1">
                <a:solidFill>
                  <a:srgbClr val="1769D2"/>
                </a:solidFill>
                <a:latin typeface="Malgun Gothic"/>
              </a:defRPr>
            </a:pPr>
            <a:r>
              <a:t>싸왓디</a:t>
            </a:r>
          </a:p>
          <a:p>
            <a:pPr algn="ctr">
              <a:defRPr sz="1800">
                <a:solidFill>
                  <a:srgbClr val="173F31"/>
                </a:solidFill>
                <a:latin typeface="Malgun Gothic"/>
              </a:defRPr>
            </a:pPr>
            <a:r>
              <a:t>안녕하세요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2514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5D6964"/>
                </a:solidFill>
                <a:latin typeface="Malgun Gothic"/>
              </a:rPr>
              <a:t>(단어 이미지 준비 중)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2011680"/>
            <a:ext cx="2514600" cy="3108960"/>
          </a:xfrm>
          <a:prstGeom prst="roundRect">
            <a:avLst/>
          </a:prstGeom>
          <a:solidFill>
            <a:srgbClr val="F4FBF4"/>
          </a:solidFill>
          <a:ln w="15875">
            <a:solidFill>
              <a:srgbClr val="D7E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228600"/>
          <a:lstStyle/>
          <a:p>
            <a:pPr algn="ctr">
              <a:defRPr sz="3400" b="1">
                <a:solidFill>
                  <a:srgbClr val="1C241F"/>
                </a:solidFill>
                <a:latin typeface="Malgun Gothic"/>
              </a:defRPr>
            </a:pPr>
            <a:r>
              <a:t>ขอบคุณ</a:t>
            </a:r>
          </a:p>
          <a:p>
            <a:pPr algn="ctr">
              <a:defRPr sz="2200" b="1">
                <a:solidFill>
                  <a:srgbClr val="1769D2"/>
                </a:solidFill>
                <a:latin typeface="Malgun Gothic"/>
              </a:defRPr>
            </a:pPr>
            <a:r>
              <a:t>콥 쿤</a:t>
            </a:r>
          </a:p>
          <a:p>
            <a:pPr algn="ctr">
              <a:defRPr sz="1800">
                <a:solidFill>
                  <a:srgbClr val="173F31"/>
                </a:solidFill>
                <a:latin typeface="Malgun Gothic"/>
              </a:defRPr>
            </a:pPr>
            <a:r>
              <a:t>감사합니다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3840480"/>
            <a:ext cx="2514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5D6964"/>
                </a:solidFill>
                <a:latin typeface="Malgun Gothic"/>
              </a:rPr>
              <a:t>(단어 이미지 준비 중)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2514600" cy="3108960"/>
          </a:xfrm>
          <a:prstGeom prst="roundRect">
            <a:avLst/>
          </a:prstGeom>
          <a:solidFill>
            <a:srgbClr val="F4FBF4"/>
          </a:solidFill>
          <a:ln w="15875">
            <a:solidFill>
              <a:srgbClr val="D7E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228600"/>
          <a:lstStyle/>
          <a:p>
            <a:pPr algn="ctr">
              <a:defRPr sz="3400" b="1">
                <a:solidFill>
                  <a:srgbClr val="1C241F"/>
                </a:solidFill>
                <a:latin typeface="Malgun Gothic"/>
              </a:defRPr>
            </a:pPr>
            <a:r>
              <a:t>ใช่</a:t>
            </a:r>
          </a:p>
          <a:p>
            <a:pPr algn="ctr">
              <a:defRPr sz="2200" b="1">
                <a:solidFill>
                  <a:srgbClr val="1769D2"/>
                </a:solidFill>
                <a:latin typeface="Malgun Gothic"/>
              </a:defRPr>
            </a:pPr>
            <a:r>
              <a:t>차이</a:t>
            </a:r>
          </a:p>
          <a:p>
            <a:pPr algn="ctr">
              <a:defRPr sz="1800">
                <a:solidFill>
                  <a:srgbClr val="173F31"/>
                </a:solidFill>
                <a:latin typeface="Malgun Gothic"/>
              </a:defRPr>
            </a:pPr>
            <a:r>
              <a:t>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840480"/>
            <a:ext cx="2514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5D6964"/>
                </a:solidFill>
                <a:latin typeface="Malgun Gothic"/>
              </a:rPr>
              <a:t>(단어 이미지 준비 중)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2011680"/>
            <a:ext cx="2514600" cy="3108960"/>
          </a:xfrm>
          <a:prstGeom prst="roundRect">
            <a:avLst/>
          </a:prstGeom>
          <a:solidFill>
            <a:srgbClr val="F4FBF4"/>
          </a:solidFill>
          <a:ln w="15875">
            <a:solidFill>
              <a:srgbClr val="D7E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228600"/>
          <a:lstStyle/>
          <a:p>
            <a:pPr algn="ctr">
              <a:defRPr sz="3400" b="1">
                <a:solidFill>
                  <a:srgbClr val="1C241F"/>
                </a:solidFill>
                <a:latin typeface="Malgun Gothic"/>
              </a:defRPr>
            </a:pPr>
            <a:r>
              <a:t>ไม่ใช่</a:t>
            </a:r>
          </a:p>
          <a:p>
            <a:pPr algn="ctr">
              <a:defRPr sz="2200" b="1">
                <a:solidFill>
                  <a:srgbClr val="1769D2"/>
                </a:solidFill>
                <a:latin typeface="Malgun Gothic"/>
              </a:defRPr>
            </a:pPr>
            <a:r>
              <a:t>마이 차이</a:t>
            </a:r>
          </a:p>
          <a:p>
            <a:pPr algn="ctr">
              <a:defRPr sz="1800">
                <a:solidFill>
                  <a:srgbClr val="173F31"/>
                </a:solidFill>
                <a:latin typeface="Malgun Gothic"/>
              </a:defRPr>
            </a:pPr>
            <a:r>
              <a:t>아니오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840480"/>
            <a:ext cx="2514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5D6964"/>
                </a:solidFill>
                <a:latin typeface="Malgun Gothic"/>
              </a:rPr>
              <a:t>(단어 이미지 준비 중)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D6964"/>
                </a:solidFill>
                <a:latin typeface="Malgun Gothic"/>
              </a:rPr>
              <a:t>이미지가 없는 단어는 음성과 발화로만 연습합니다.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D6964"/>
                </a:solidFill>
                <a:latin typeface="Malgun Gothic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Slide 4 · 발화 비교</a:t>
            </a:r>
          </a:p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남성형 / 여성형 어미 점검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0" y="137160"/>
            <a:ext cx="31089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algun Gothic"/>
              </a:rPr>
              <a:t>10분 수업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3291840" cy="548640"/>
          </a:xfrm>
          <a:prstGeom prst="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문장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1554480"/>
            <a:ext cx="3931920" cy="548640"/>
          </a:xfrm>
          <a:prstGeom prst="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남성형 (ครับ)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554480"/>
            <a:ext cx="3931920" cy="548640"/>
          </a:xfrm>
          <a:prstGeom prst="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여성형 (ค่ะ)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2918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41F"/>
                </a:solidFill>
                <a:latin typeface="Malgun Gothic"/>
              </a:defRPr>
            </a:pPr>
            <a:r>
              <a:t>안녕하세요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03120"/>
            <a:ext cx="39319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41F"/>
                </a:solidFill>
                <a:latin typeface="Malgun Gothic"/>
              </a:defRPr>
            </a:pPr>
            <a:r>
              <a:t>สวัสดีครับ</a:t>
            </a:r>
          </a:p>
          <a:p>
            <a:pPr algn="ctr">
              <a:defRPr sz="1300">
                <a:solidFill>
                  <a:srgbClr val="1769D2"/>
                </a:solidFill>
                <a:latin typeface="Malgun Gothic"/>
              </a:defRPr>
            </a:pPr>
            <a:r>
              <a:t>싸왓디 크랍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2103120"/>
            <a:ext cx="39319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41F"/>
                </a:solidFill>
                <a:latin typeface="Malgun Gothic"/>
              </a:defRPr>
            </a:pPr>
            <a:r>
              <a:t>สวัสดีค่ะ</a:t>
            </a:r>
          </a:p>
          <a:p>
            <a:pPr algn="ctr">
              <a:defRPr sz="1300">
                <a:solidFill>
                  <a:srgbClr val="1769D2"/>
                </a:solidFill>
                <a:latin typeface="Malgun Gothic"/>
              </a:defRPr>
            </a:pPr>
            <a:r>
              <a:t>싸왓디 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3291840" cy="548640"/>
          </a:xfrm>
          <a:prstGeom prst="rect">
            <a:avLst/>
          </a:prstGeom>
          <a:solidFill>
            <a:srgbClr val="F4FBF4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41F"/>
                </a:solidFill>
                <a:latin typeface="Malgun Gothic"/>
              </a:defRPr>
            </a:pPr>
            <a:r>
              <a:t>좋은 아침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2651760"/>
            <a:ext cx="3931920" cy="548640"/>
          </a:xfrm>
          <a:prstGeom prst="rect">
            <a:avLst/>
          </a:prstGeom>
          <a:solidFill>
            <a:srgbClr val="F4FBF4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41F"/>
                </a:solidFill>
                <a:latin typeface="Malgun Gothic"/>
              </a:defRPr>
            </a:pPr>
            <a:r>
              <a:t>สวัสดีตอนเช้าครับ</a:t>
            </a:r>
          </a:p>
          <a:p>
            <a:pPr algn="ctr">
              <a:defRPr sz="1300">
                <a:solidFill>
                  <a:srgbClr val="1769D2"/>
                </a:solidFill>
                <a:latin typeface="Malgun Gothic"/>
              </a:defRPr>
            </a:pPr>
            <a:r>
              <a:t>싸왓디 떤 차오 크랍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651760"/>
            <a:ext cx="3931920" cy="548640"/>
          </a:xfrm>
          <a:prstGeom prst="rect">
            <a:avLst/>
          </a:prstGeom>
          <a:solidFill>
            <a:srgbClr val="F4FBF4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41F"/>
                </a:solidFill>
                <a:latin typeface="Malgun Gothic"/>
              </a:defRPr>
            </a:pPr>
            <a:r>
              <a:t>สวัสดีตอนเช้าค่ะ</a:t>
            </a:r>
          </a:p>
          <a:p>
            <a:pPr algn="ctr">
              <a:defRPr sz="1300">
                <a:solidFill>
                  <a:srgbClr val="1769D2"/>
                </a:solidFill>
                <a:latin typeface="Malgun Gothic"/>
              </a:defRPr>
            </a:pPr>
            <a:r>
              <a:t>싸왓디 떤 차오 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32918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41F"/>
                </a:solidFill>
                <a:latin typeface="Malgun Gothic"/>
              </a:defRPr>
            </a:pPr>
            <a:r>
              <a:t>좋은 저녁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3200400"/>
            <a:ext cx="39319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41F"/>
                </a:solidFill>
                <a:latin typeface="Malgun Gothic"/>
              </a:defRPr>
            </a:pPr>
            <a:r>
              <a:t>สวัสดีตอนเย็นครับ</a:t>
            </a:r>
          </a:p>
          <a:p>
            <a:pPr algn="ctr">
              <a:defRPr sz="1300">
                <a:solidFill>
                  <a:srgbClr val="1769D2"/>
                </a:solidFill>
                <a:latin typeface="Malgun Gothic"/>
              </a:defRPr>
            </a:pPr>
            <a:r>
              <a:t>싸왓디 떤 옌 크랍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3200400"/>
            <a:ext cx="39319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41F"/>
                </a:solidFill>
                <a:latin typeface="Malgun Gothic"/>
              </a:defRPr>
            </a:pPr>
            <a:r>
              <a:t>สวัสดีตอนเย็นค่ะ</a:t>
            </a:r>
          </a:p>
          <a:p>
            <a:pPr algn="ctr">
              <a:defRPr sz="1300">
                <a:solidFill>
                  <a:srgbClr val="1769D2"/>
                </a:solidFill>
                <a:latin typeface="Malgun Gothic"/>
              </a:defRPr>
            </a:pPr>
            <a:r>
              <a:t>싸왓디 떤 옌 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49040"/>
            <a:ext cx="3291840" cy="548640"/>
          </a:xfrm>
          <a:prstGeom prst="rect">
            <a:avLst/>
          </a:prstGeom>
          <a:solidFill>
            <a:srgbClr val="F4FBF4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41F"/>
                </a:solidFill>
                <a:latin typeface="Malgun Gothic"/>
              </a:defRPr>
            </a:pPr>
            <a:r>
              <a:t>정말 고마워요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3749040"/>
            <a:ext cx="3931920" cy="548640"/>
          </a:xfrm>
          <a:prstGeom prst="rect">
            <a:avLst/>
          </a:prstGeom>
          <a:solidFill>
            <a:srgbClr val="F4FBF4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41F"/>
                </a:solidFill>
                <a:latin typeface="Malgun Gothic"/>
              </a:defRPr>
            </a:pPr>
            <a:r>
              <a:t>ขอบคุณมากครับ</a:t>
            </a:r>
          </a:p>
          <a:p>
            <a:pPr algn="ctr">
              <a:defRPr sz="1300">
                <a:solidFill>
                  <a:srgbClr val="1769D2"/>
                </a:solidFill>
                <a:latin typeface="Malgun Gothic"/>
              </a:defRPr>
            </a:pPr>
            <a:r>
              <a:t>콥 쿤 막 크랍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3749040"/>
            <a:ext cx="3931920" cy="548640"/>
          </a:xfrm>
          <a:prstGeom prst="rect">
            <a:avLst/>
          </a:prstGeom>
          <a:solidFill>
            <a:srgbClr val="F4FBF4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41F"/>
                </a:solidFill>
                <a:latin typeface="Malgun Gothic"/>
              </a:defRPr>
            </a:pPr>
            <a:r>
              <a:t>ขอบคุณมากค่ะ</a:t>
            </a:r>
          </a:p>
          <a:p>
            <a:pPr algn="ctr">
              <a:defRPr sz="1300">
                <a:solidFill>
                  <a:srgbClr val="1769D2"/>
                </a:solidFill>
                <a:latin typeface="Malgun Gothic"/>
              </a:defRPr>
            </a:pPr>
            <a:r>
              <a:t>콥 쿤 막 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97680"/>
            <a:ext cx="32918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41F"/>
                </a:solidFill>
                <a:latin typeface="Malgun Gothic"/>
              </a:defRPr>
            </a:pPr>
            <a:r>
              <a:t>천만에요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4297680"/>
            <a:ext cx="39319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41F"/>
                </a:solidFill>
                <a:latin typeface="Malgun Gothic"/>
              </a:defRPr>
            </a:pPr>
            <a:r>
              <a:t>ไม่เป็นไรครับ</a:t>
            </a:r>
          </a:p>
          <a:p>
            <a:pPr algn="ctr">
              <a:defRPr sz="1300">
                <a:solidFill>
                  <a:srgbClr val="1769D2"/>
                </a:solidFill>
                <a:latin typeface="Malgun Gothic"/>
              </a:defRPr>
            </a:pPr>
            <a:r>
              <a:t>마이 뻰 라이 크랍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4297680"/>
            <a:ext cx="39319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41F"/>
                </a:solidFill>
                <a:latin typeface="Malgun Gothic"/>
              </a:defRPr>
            </a:pPr>
            <a:r>
              <a:t>ไม่เป็นไรค่ะ</a:t>
            </a:r>
          </a:p>
          <a:p>
            <a:pPr algn="ctr">
              <a:defRPr sz="1300">
                <a:solidFill>
                  <a:srgbClr val="1769D2"/>
                </a:solidFill>
                <a:latin typeface="Malgun Gothic"/>
              </a:defRPr>
            </a:pPr>
            <a:r>
              <a:t>마이 뻰 라이 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46320"/>
            <a:ext cx="3291840" cy="548640"/>
          </a:xfrm>
          <a:prstGeom prst="rect">
            <a:avLst/>
          </a:prstGeom>
          <a:solidFill>
            <a:srgbClr val="F4FBF4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41F"/>
                </a:solidFill>
                <a:latin typeface="Malgun Gothic"/>
              </a:defRPr>
            </a:pPr>
            <a:r>
              <a:t>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4846320"/>
            <a:ext cx="3931920" cy="548640"/>
          </a:xfrm>
          <a:prstGeom prst="rect">
            <a:avLst/>
          </a:prstGeom>
          <a:solidFill>
            <a:srgbClr val="F4FBF4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41F"/>
                </a:solidFill>
                <a:latin typeface="Malgun Gothic"/>
              </a:defRPr>
            </a:pPr>
            <a:r>
              <a:t>ใช่ครับ</a:t>
            </a:r>
          </a:p>
          <a:p>
            <a:pPr algn="ctr">
              <a:defRPr sz="1300">
                <a:solidFill>
                  <a:srgbClr val="1769D2"/>
                </a:solidFill>
                <a:latin typeface="Malgun Gothic"/>
              </a:defRPr>
            </a:pPr>
            <a:r>
              <a:t>차이 크랍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4846320"/>
            <a:ext cx="3931920" cy="548640"/>
          </a:xfrm>
          <a:prstGeom prst="rect">
            <a:avLst/>
          </a:prstGeom>
          <a:solidFill>
            <a:srgbClr val="F4FBF4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41F"/>
                </a:solidFill>
                <a:latin typeface="Malgun Gothic"/>
              </a:defRPr>
            </a:pPr>
            <a:r>
              <a:t>ใช่ค่ะ</a:t>
            </a:r>
          </a:p>
          <a:p>
            <a:pPr algn="ctr">
              <a:defRPr sz="1300">
                <a:solidFill>
                  <a:srgbClr val="1769D2"/>
                </a:solidFill>
                <a:latin typeface="Malgun Gothic"/>
              </a:defRPr>
            </a:pPr>
            <a:r>
              <a:t>차이 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394960"/>
            <a:ext cx="32918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41F"/>
                </a:solidFill>
                <a:latin typeface="Malgun Gothic"/>
              </a:defRPr>
            </a:pPr>
            <a:r>
              <a:t>아니오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5394960"/>
            <a:ext cx="39319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41F"/>
                </a:solidFill>
                <a:latin typeface="Malgun Gothic"/>
              </a:defRPr>
            </a:pPr>
            <a:r>
              <a:t>ไม่ใช่ครับ</a:t>
            </a:r>
          </a:p>
          <a:p>
            <a:pPr algn="ctr">
              <a:defRPr sz="1300">
                <a:solidFill>
                  <a:srgbClr val="1769D2"/>
                </a:solidFill>
                <a:latin typeface="Malgun Gothic"/>
              </a:defRPr>
            </a:pPr>
            <a:r>
              <a:t>마이 차이 크랍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5394960"/>
            <a:ext cx="39319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41F"/>
                </a:solidFill>
                <a:latin typeface="Malgun Gothic"/>
              </a:defRPr>
            </a:pPr>
            <a:r>
              <a:t>ไม่ใช่ค่ะ</a:t>
            </a:r>
          </a:p>
          <a:p>
            <a:pPr algn="ctr">
              <a:defRPr sz="1300">
                <a:solidFill>
                  <a:srgbClr val="1769D2"/>
                </a:solidFill>
                <a:latin typeface="Malgun Gothic"/>
              </a:defRPr>
            </a:pPr>
            <a:r>
              <a:t>마이 차이 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984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73F31"/>
                </a:solidFill>
                <a:latin typeface="Malgun Gothic"/>
              </a:rPr>
              <a:t>포인트: 남성 학습자는 끝에 '크랍', 여성 학습자는 '카/케'로 마무리합니다.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332720" y="6446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D6964"/>
                </a:solidFill>
                <a:latin typeface="Malgun Gothic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Slide 5 · 역할극 단계</a:t>
            </a:r>
          </a:p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토요일 10분 진행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0" y="137160"/>
            <a:ext cx="31089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algun Gothic"/>
              </a:rPr>
              <a:t>10분 수업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463040" cy="713232"/>
          </a:xfrm>
          <a:prstGeom prst="round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0:00~1:00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8840" y="1691640"/>
            <a:ext cx="950976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>
              <a:defRPr sz="1900" b="1">
                <a:solidFill>
                  <a:srgbClr val="1C241F"/>
                </a:solidFill>
                <a:latin typeface="Malgun Gothic"/>
              </a:defRPr>
            </a:pPr>
            <a:r>
              <a:t>1. 이번 주 장면 소개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59736"/>
            <a:ext cx="1463040" cy="713232"/>
          </a:xfrm>
          <a:prstGeom prst="round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1:00~3:00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2459736"/>
            <a:ext cx="950976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>
              <a:defRPr sz="1900" b="1">
                <a:solidFill>
                  <a:srgbClr val="1C241F"/>
                </a:solidFill>
                <a:latin typeface="Malgun Gothic"/>
              </a:defRPr>
            </a:pPr>
            <a:r>
              <a:t>2. 핵심 문장 전체 따라 말하기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27832"/>
            <a:ext cx="1463040" cy="713232"/>
          </a:xfrm>
          <a:prstGeom prst="round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3:00~5:00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3227832"/>
            <a:ext cx="950976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>
              <a:defRPr sz="1900" b="1">
                <a:solidFill>
                  <a:srgbClr val="1C241F"/>
                </a:solidFill>
                <a:latin typeface="Malgun Gothic"/>
              </a:defRPr>
            </a:pPr>
            <a:r>
              <a:t>3. 남성형/여성형 점검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95928"/>
            <a:ext cx="1463040" cy="713232"/>
          </a:xfrm>
          <a:prstGeom prst="round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5:00~8:00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3995928"/>
            <a:ext cx="950976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>
              <a:defRPr sz="1900" b="1">
                <a:solidFill>
                  <a:srgbClr val="1C241F"/>
                </a:solidFill>
                <a:latin typeface="Malgun Gothic"/>
              </a:defRPr>
            </a:pPr>
            <a:r>
              <a:t>4. 두 명씩 짝 역할극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64024"/>
            <a:ext cx="1463040" cy="713232"/>
          </a:xfrm>
          <a:prstGeom prst="round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8:00~9:00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4764024"/>
            <a:ext cx="950976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>
              <a:defRPr sz="1900" b="1">
                <a:solidFill>
                  <a:srgbClr val="1C241F"/>
                </a:solidFill>
                <a:latin typeface="Malgun Gothic"/>
              </a:defRPr>
            </a:pPr>
            <a:r>
              <a:t>5. 역할 바꾸기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532120"/>
            <a:ext cx="1463040" cy="713232"/>
          </a:xfrm>
          <a:prstGeom prst="round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9:00~10:00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48840" y="5532120"/>
            <a:ext cx="950976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>
              <a:defRPr sz="1900" b="1">
                <a:solidFill>
                  <a:srgbClr val="1C241F"/>
                </a:solidFill>
                <a:latin typeface="Malgun Gothic"/>
              </a:defRPr>
            </a:pPr>
            <a:r>
              <a:t>6. 다음 주 예고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D6964"/>
                </a:solidFill>
                <a:latin typeface="Malgun Gothic"/>
              </a:rPr>
              <a:t>역할극 핵심 표현: 안녕하세요, 좋은 아침, 좋은 저녁, 정말 고마워요, 천만에요, 예, 아니오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D6964"/>
                </a:solidFill>
                <a:latin typeface="Malgun Gothic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Slide 6 · 미션 가이드</a:t>
            </a:r>
          </a:p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선교 현장 가이드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0" y="137160"/>
            <a:ext cx="31089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algun Gothic"/>
              </a:rPr>
              <a:t>10분 수업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0789920" cy="1828800"/>
          </a:xfrm>
          <a:prstGeom prst="roundRect">
            <a:avLst/>
          </a:prstGeom>
          <a:solidFill>
            <a:srgbClr val="EDF7FF"/>
          </a:solidFill>
          <a:ln w="15875">
            <a:solidFill>
              <a:srgbClr val="C9DF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73F31"/>
                </a:solidFill>
                <a:latin typeface="Malgun Gothic"/>
              </a:rPr>
              <a:t>강사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241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1C241F"/>
                </a:solidFill>
                <a:latin typeface="Malgun Gothic"/>
              </a:rPr>
              <a:t>강사는 발음 완벽성보다 눈맞춤, 미소, 감사 반응을 칭찬한다. 첫 주 목표는 현지 성도 앞에서 실제로 입을 여는 것이다.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39"/>
            <a:ext cx="10789920" cy="1737360"/>
          </a:xfrm>
          <a:prstGeom prst="roundRect">
            <a:avLst/>
          </a:prstGeom>
          <a:solidFill>
            <a:srgbClr val="FFF8DF"/>
          </a:solidFill>
          <a:ln w="15875">
            <a:solidFill>
              <a:srgbClr val="EFD7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8A6614"/>
                </a:solidFill>
                <a:latin typeface="Malgun Gothic"/>
              </a:rPr>
              <a:t>성공의 모습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241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1C241F"/>
                </a:solidFill>
                <a:latin typeface="Malgun Gothic"/>
              </a:rPr>
              <a:t>학습자가 남성형/여성형 어미를 구분하며 핵심 표현을 짝과 함께 소리 내어 말하고, 따뜻한 선교적 태도로 역할극에 참여하면 성공이다.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D6964"/>
                </a:solidFill>
                <a:latin typeface="Malgun Gothic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Slide 7 · 연습 라운드</a:t>
            </a:r>
          </a:p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짝 역할극 연습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0" y="137160"/>
            <a:ext cx="31089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algun Gothic"/>
              </a:rPr>
              <a:t>10분 수업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212080" cy="374903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73F31"/>
                </a:solidFill>
                <a:latin typeface="Malgun Gothic"/>
              </a:rPr>
              <a:t>1라운드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6634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C241F"/>
                </a:solidFill>
                <a:latin typeface="Malgun Gothic"/>
              </a:rPr>
              <a:t>두 명씩 짝을 지어 오늘 장면을 처음부터 끝까지 한 번 말해 봅니다.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1C241F"/>
                </a:solidFill>
                <a:latin typeface="Malgun Gothic"/>
              </a:rPr>
              <a:t>한 사람이 방문자, 한 사람이 현지 봉사자 역할을 맡습니다.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1C241F"/>
                </a:solidFill>
                <a:latin typeface="Malgun Gothic"/>
              </a:rPr>
              <a:t>발음이 완벽하지 않아도 끝까지 말하는 것이 목표입니다.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737360"/>
            <a:ext cx="5212080" cy="374903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F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73F31"/>
                </a:solidFill>
                <a:latin typeface="Malgun Gothic"/>
              </a:rPr>
              <a:t>2라운드 (역할 교체)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68880"/>
            <a:ext cx="46634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C241F"/>
                </a:solidFill>
                <a:latin typeface="Malgun Gothic"/>
              </a:rPr>
              <a:t>역할을 바꾸어 같은 장면을 한 번 더 말해 봅니다.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1C241F"/>
                </a:solidFill>
                <a:latin typeface="Malgun Gothic"/>
              </a:rPr>
              <a:t>이번에는 조금 더 자신 있게, 눈을 마주치며 말해 봅니다.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1C241F"/>
                </a:solidFill>
                <a:latin typeface="Malgun Gothic"/>
              </a:rPr>
              <a:t>짝과 함께 잘한 점을 한 가지씩 칭찬해 줍니다.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D6964"/>
                </a:solidFill>
                <a:latin typeface="Malgun Gothic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Slide 8 · 보내기</a:t>
            </a:r>
          </a:p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마무리와 다음 주 예고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0" y="137160"/>
            <a:ext cx="31089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algun Gothic"/>
              </a:rPr>
              <a:t>10분 수업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0789920" cy="1645920"/>
          </a:xfrm>
          <a:prstGeom prst="roundRect">
            <a:avLst/>
          </a:prstGeom>
          <a:solidFill>
            <a:srgbClr val="F4FBF4"/>
          </a:solidFill>
          <a:ln w="15875">
            <a:solidFill>
              <a:srgbClr val="D7E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73F31"/>
                </a:solidFill>
                <a:latin typeface="Malgun Gothic"/>
              </a:rPr>
              <a:t>이번 주 잘한 점 칭찬하기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241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1C241F"/>
                </a:solidFill>
                <a:latin typeface="Malgun Gothic"/>
              </a:rPr>
              <a:t>발음보다 먼저 입을 연 것, 눈을 맞추고 미소로 인사한 것을 함께 칭찬합니다.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66160"/>
            <a:ext cx="10789920" cy="1920240"/>
          </a:xfrm>
          <a:prstGeom prst="roundRect">
            <a:avLst/>
          </a:prstGeom>
          <a:solidFill>
            <a:srgbClr val="FFF8DF"/>
          </a:solidFill>
          <a:ln w="15875">
            <a:solidFill>
              <a:srgbClr val="EFD7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8A6614"/>
                </a:solidFill>
                <a:latin typeface="Malgun Gothic"/>
              </a:rPr>
              <a:t>일요일 개인 활용 미션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10241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1C241F"/>
                </a:solidFill>
                <a:latin typeface="Malgun Gothic"/>
              </a:rPr>
              <a:t>가족이나 가까운 사람에게 태국어 인사 1회, 감사 1회, 천만에요 1회를 실제로 말한다.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D6964"/>
                </a:solidFill>
                <a:latin typeface="Malgun Gothic"/>
              </a:rPr>
              <a:t>다음 주에 또 만나요! 태국어 선교회화 25일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D6964"/>
                </a:solidFill>
                <a:latin typeface="Malgun Gothic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